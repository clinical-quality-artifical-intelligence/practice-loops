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Cambria"/>
              </a:rPr>
              <a:t>Practice loops for nursing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5204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CAE6E4"/>
                </a:solidFill>
                <a:latin typeface="Calibri"/>
              </a:rPr>
              <a:t>Moving from prompting to practice architecture — how nurses build safe, structured, governed AI workflows.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806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2C39A"/>
                </a:solidFill>
                <a:latin typeface="Calibri"/>
              </a:rPr>
              <a:t>A framework by Lincoln Gombedza</a:t>
            </a:r>
            <a:r>
              <a:rPr sz="1500" b="0">
                <a:solidFill>
                  <a:srgbClr val="9FC9C6"/>
                </a:solidFill>
                <a:latin typeface="Calibri"/>
              </a:rPr>
              <a:t>   ·   Nursing Citizen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mbria"/>
              </a:rPr>
              <a:t>The problem with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A6B6E"/>
                </a:solidFill>
                <a:latin typeface="Calibri"/>
              </a:rPr>
              <a:t>Most nurses use AI in the slowest way possible — you are the engine, the AI is just the tool.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148840"/>
            <a:ext cx="1828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2E33"/>
                </a:solidFill>
                <a:latin typeface="Calibri"/>
              </a:rPr>
              <a:t>Type request</a:t>
            </a:r>
          </a:p>
        </p:txBody>
      </p:sp>
      <p:sp>
        <p:nvSpPr>
          <p:cNvPr id="7" name="Chevron 6"/>
          <p:cNvSpPr/>
          <p:nvPr/>
        </p:nvSpPr>
        <p:spPr>
          <a:xfrm>
            <a:off x="2660904" y="2478024"/>
            <a:ext cx="210312" cy="256032"/>
          </a:xfrm>
          <a:prstGeom prst="chevron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80360" y="21488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148840"/>
            <a:ext cx="1828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2E33"/>
                </a:solidFill>
                <a:latin typeface="Calibri"/>
              </a:rPr>
              <a:t>Wait for answer</a:t>
            </a:r>
          </a:p>
        </p:txBody>
      </p:sp>
      <p:sp>
        <p:nvSpPr>
          <p:cNvPr id="10" name="Chevron 9"/>
          <p:cNvSpPr/>
          <p:nvPr/>
        </p:nvSpPr>
        <p:spPr>
          <a:xfrm>
            <a:off x="4901184" y="2478024"/>
            <a:ext cx="210312" cy="256032"/>
          </a:xfrm>
          <a:prstGeom prst="chevron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20640" y="21488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148840"/>
            <a:ext cx="1828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2E33"/>
                </a:solidFill>
                <a:latin typeface="Calibri"/>
              </a:rPr>
              <a:t>Read output</a:t>
            </a:r>
          </a:p>
        </p:txBody>
      </p:sp>
      <p:sp>
        <p:nvSpPr>
          <p:cNvPr id="13" name="Chevron 12"/>
          <p:cNvSpPr/>
          <p:nvPr/>
        </p:nvSpPr>
        <p:spPr>
          <a:xfrm>
            <a:off x="7141464" y="2478024"/>
            <a:ext cx="210312" cy="256032"/>
          </a:xfrm>
          <a:prstGeom prst="chevron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0920" y="21488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148840"/>
            <a:ext cx="1828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2E33"/>
                </a:solidFill>
                <a:latin typeface="Calibri"/>
              </a:rPr>
              <a:t>Fix it</a:t>
            </a:r>
          </a:p>
        </p:txBody>
      </p:sp>
      <p:sp>
        <p:nvSpPr>
          <p:cNvPr id="16" name="Chevron 15"/>
          <p:cNvSpPr/>
          <p:nvPr/>
        </p:nvSpPr>
        <p:spPr>
          <a:xfrm>
            <a:off x="9381744" y="2478024"/>
            <a:ext cx="210312" cy="256032"/>
          </a:xfrm>
          <a:prstGeom prst="chevron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0" y="21488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148840"/>
            <a:ext cx="1828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2E33"/>
                </a:solidFill>
                <a:latin typeface="Calibri"/>
              </a:rPr>
              <a:t>Ask again &amp; repeat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5A6B6E"/>
                </a:solidFill>
                <a:latin typeface="Calibri"/>
              </a:rPr>
              <a:t>The ceiling of inefficiency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49039"/>
            <a:ext cx="10972800" cy="173736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77639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0B2E33"/>
                </a:solidFill>
                <a:latin typeface="Calibri"/>
              </a:rPr>
              <a:t>This manual approach is fine for simple questions. It breaks down when work is </a:t>
            </a:r>
            <a:r>
              <a:rPr sz="1700" b="1">
                <a:solidFill>
                  <a:srgbClr val="028090"/>
                </a:solidFill>
                <a:latin typeface="Calibri"/>
              </a:rPr>
              <a:t>repeated, structured, and quality-dependent</a:t>
            </a:r>
            <a:r>
              <a:rPr sz="1700" b="0">
                <a:solidFill>
                  <a:srgbClr val="0B2E33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0B2E33"/>
                </a:solidFill>
                <a:latin typeface="Calibri"/>
              </a:rPr>
              <a:t>Examples: </a:t>
            </a:r>
            <a:r>
              <a:rPr sz="1700" b="0">
                <a:solidFill>
                  <a:srgbClr val="5A6B6E"/>
                </a:solidFill>
                <a:latin typeface="Calibri"/>
              </a:rPr>
              <a:t>student placement concerns · supervision notes · preceptorship reviews · teaching materials · EDI briefings.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mbria"/>
              </a:rPr>
              <a:t>The paradigm shift: prompt vs. practice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94960" cy="274320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444441"/>
                </a:solidFill>
                <a:latin typeface="Cambria"/>
              </a:rPr>
              <a:t>The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B2E33"/>
                </a:solidFill>
                <a:latin typeface="Calibri"/>
              </a:rPr>
              <a:t>A single instruction: </a:t>
            </a:r>
            <a:r>
              <a:rPr sz="1600" b="1" i="1">
                <a:solidFill>
                  <a:srgbClr val="0B2E33"/>
                </a:solidFill>
                <a:latin typeface="Calibri"/>
              </a:rPr>
              <a:t>“Do this.”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5A6B6E"/>
                </a:solidFill>
                <a:latin typeface="Calibri"/>
              </a:rPr>
              <a:t>AI guesses the required standard and stops after one attempt.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394960" cy="274320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28090"/>
                </a:solidFill>
                <a:latin typeface="Cambria"/>
              </a:rPr>
              <a:t>The practice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423160"/>
            <a:ext cx="4892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B2E33"/>
                </a:solidFill>
                <a:latin typeface="Calibri"/>
              </a:rPr>
              <a:t>A repeated workflow: </a:t>
            </a:r>
            <a:r>
              <a:rPr sz="1600" b="1" i="1">
                <a:solidFill>
                  <a:srgbClr val="0B2E33"/>
                </a:solidFill>
                <a:latin typeface="Calibri"/>
              </a:rPr>
              <a:t>“Work toward this goal, check it against the standard, improve, and stop.”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28090"/>
                </a:solidFill>
                <a:latin typeface="Calibri"/>
              </a:rPr>
              <a:t>AI knows what to produce, how to check it, when to improve, and when to escalate.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709160"/>
            <a:ext cx="10927080" cy="1417320"/>
          </a:xfrm>
          <a:prstGeom prst="roundRect">
            <a:avLst>
              <a:gd name="adj" fmla="val 8000"/>
            </a:avLst>
          </a:prstGeom>
          <a:solidFill>
            <a:srgbClr val="07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64608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2C39A"/>
                </a:solidFill>
                <a:latin typeface="Calibri"/>
              </a:rPr>
              <a:t>Loops are not alien to nursing — you run them every day: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44068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4068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Assess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54406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544068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544068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4406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544068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544068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Intervene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4406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544068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544068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54406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544068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544068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Adjust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mbria"/>
              </a:rPr>
              <a:t>The three levels of AI maturity in nursing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520440" cy="420624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CD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19" y="214884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21488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12848"/>
            <a:ext cx="2240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B2E33"/>
                </a:solidFill>
                <a:latin typeface="Cambria"/>
              </a:rPr>
              <a:t>AI as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306324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INPUT  </a:t>
            </a:r>
            <a:r>
              <a:rPr sz="1500" b="0">
                <a:solidFill>
                  <a:srgbClr val="0B2E33"/>
                </a:solidFill>
                <a:latin typeface="Calibri"/>
              </a:rPr>
              <a:t>A single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393192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ACTION  </a:t>
            </a:r>
            <a:r>
              <a:rPr sz="1500" b="0">
                <a:solidFill>
                  <a:srgbClr val="0B2E33"/>
                </a:solidFill>
                <a:latin typeface="Calibri"/>
              </a:rPr>
              <a:t>One-off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480060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HUMAN  </a:t>
            </a:r>
            <a:r>
              <a:rPr sz="1500" b="0">
                <a:solidFill>
                  <a:srgbClr val="0B2E33"/>
                </a:solidFill>
                <a:latin typeface="Calibri"/>
              </a:rPr>
              <a:t>Reads &amp; edits manually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828800"/>
            <a:ext cx="3520440" cy="420624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CD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73168" y="214884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1488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0408" y="2212848"/>
            <a:ext cx="2240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B2E33"/>
                </a:solidFill>
                <a:latin typeface="Cambria"/>
              </a:rPr>
              <a:t>Structured helper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306324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INPUT  </a:t>
            </a:r>
            <a:r>
              <a:rPr sz="1500" b="0">
                <a:solidFill>
                  <a:srgbClr val="0B2E33"/>
                </a:solidFill>
                <a:latin typeface="Calibri"/>
              </a:rPr>
              <a:t>A task with criteria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393192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ACTION  </a:t>
            </a:r>
            <a:r>
              <a:rPr sz="1500" b="0">
                <a:solidFill>
                  <a:srgbClr val="0B2E33"/>
                </a:solidFill>
                <a:latin typeface="Calibri"/>
              </a:rPr>
              <a:t>Follows 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480060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HUMAN  </a:t>
            </a:r>
            <a:r>
              <a:rPr sz="1500" b="0">
                <a:solidFill>
                  <a:srgbClr val="0B2E33"/>
                </a:solidFill>
                <a:latin typeface="Calibri"/>
              </a:rPr>
              <a:t>Checks vs local standards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66175" y="1828800"/>
            <a:ext cx="3520440" cy="4206240"/>
          </a:xfrm>
          <a:prstGeom prst="roundRect">
            <a:avLst>
              <a:gd name="adj" fmla="val 8000"/>
            </a:avLst>
          </a:prstGeom>
          <a:solidFill>
            <a:srgbClr val="07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86215" y="2148840"/>
            <a:ext cx="640080" cy="64008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86215" y="21488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07343B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5" y="2212848"/>
            <a:ext cx="2240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Practice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5" y="306324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2C39A"/>
                </a:solidFill>
                <a:latin typeface="Calibri"/>
              </a:rPr>
              <a:t>INPUT  </a:t>
            </a:r>
            <a:r>
              <a:rPr sz="1500" b="0">
                <a:solidFill>
                  <a:srgbClr val="CFE7E5"/>
                </a:solidFill>
                <a:latin typeface="Calibri"/>
              </a:rPr>
              <a:t>Goal, trigger, standard, stop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5" y="393192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2C39A"/>
                </a:solidFill>
                <a:latin typeface="Calibri"/>
              </a:rPr>
              <a:t>ACTION  </a:t>
            </a:r>
            <a:r>
              <a:rPr sz="1500" b="0">
                <a:solidFill>
                  <a:srgbClr val="CFE7E5"/>
                </a:solidFill>
                <a:latin typeface="Calibri"/>
              </a:rPr>
              <a:t>Runs until threshold or escalation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6215" y="480060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2C39A"/>
                </a:solidFill>
                <a:latin typeface="Calibri"/>
              </a:rPr>
              <a:t>HUMAN  </a:t>
            </a:r>
            <a:r>
              <a:rPr sz="1500" b="0">
                <a:solidFill>
                  <a:srgbClr val="CFE7E5"/>
                </a:solidFill>
                <a:latin typeface="Calibri"/>
              </a:rPr>
              <a:t>Reviews &amp; holds accountability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What a practice loop is — and is not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6766560" cy="3931920"/>
          </a:xfrm>
          <a:prstGeom prst="roundRect">
            <a:avLst>
              <a:gd name="adj" fmla="val 8000"/>
            </a:avLst>
          </a:prstGeom>
          <a:solidFill>
            <a:srgbClr val="0E4742"/>
          </a:solidFill>
          <a:ln w="15875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2C39A"/>
                </a:solidFill>
                <a:latin typeface="Cambria"/>
              </a:rPr>
              <a:t>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60350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 repeatable, AI-supported workflow designed around professional standards, human accountability, safety, equity, and service improvement.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828800"/>
            <a:ext cx="3931920" cy="3931920"/>
          </a:xfrm>
          <a:prstGeom prst="roundRect">
            <a:avLst>
              <a:gd name="adj" fmla="val 8000"/>
            </a:avLst>
          </a:prstGeom>
          <a:solidFill>
            <a:srgbClr val="09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1488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997B"/>
                </a:solidFill>
                <a:latin typeface="Cambria"/>
              </a:rPr>
              <a:t>It is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7889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24B4A"/>
                </a:solidFill>
                <a:latin typeface="Calibri"/>
              </a:rPr>
              <a:t>✕  </a:t>
            </a:r>
            <a:r>
              <a:rPr sz="1600" b="0">
                <a:solidFill>
                  <a:srgbClr val="CFE7E5"/>
                </a:solidFill>
                <a:latin typeface="Calibri"/>
              </a:rPr>
              <a:t>Autonomous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65760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24B4A"/>
                </a:solidFill>
                <a:latin typeface="Calibri"/>
              </a:rPr>
              <a:t>✕  </a:t>
            </a:r>
            <a:r>
              <a:rPr sz="1600" b="0">
                <a:solidFill>
                  <a:srgbClr val="CFE7E5"/>
                </a:solidFill>
                <a:latin typeface="Calibri"/>
              </a:rPr>
              <a:t>A chatbot answering random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526279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24B4A"/>
                </a:solidFill>
                <a:latin typeface="Calibri"/>
              </a:rPr>
              <a:t>✕  </a:t>
            </a:r>
            <a:r>
              <a:rPr sz="1600" b="0">
                <a:solidFill>
                  <a:srgbClr val="CFE7E5"/>
                </a:solidFill>
                <a:latin typeface="Calibri"/>
              </a:rPr>
              <a:t>Replacing professional judgement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2C39A"/>
                </a:solidFill>
                <a:latin typeface="Calibri"/>
              </a:rPr>
              <a:t>AI supports the workflow. The professional owns the judgement.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mbria"/>
              </a:rPr>
              <a:t>The anatomy of a practice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A6B6E"/>
                </a:solidFill>
                <a:latin typeface="Calibri"/>
              </a:rPr>
              <a:t>Six stages, grouped into Setup → Engine → Shield.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3621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028090"/>
                </a:solidFill>
                <a:latin typeface="Calibri"/>
              </a:rPr>
              <a:t>The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70832" y="20574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028090"/>
                </a:solidFill>
                <a:latin typeface="Calibri"/>
              </a:rPr>
              <a:t>The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2057400"/>
            <a:ext cx="1755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D85A30"/>
                </a:solidFill>
                <a:latin typeface="Calibri"/>
              </a:rPr>
              <a:t>The shield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1755648" cy="246888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25295" y="2724912"/>
            <a:ext cx="585216" cy="58521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5" y="272491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" y="3474720"/>
            <a:ext cx="16093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2E33"/>
                </a:solidFill>
                <a:latin typeface="Cambria"/>
              </a:rPr>
              <a:t>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4069080"/>
            <a:ext cx="15727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6E"/>
                </a:solidFill>
                <a:latin typeface="Calibri"/>
              </a:rPr>
              <a:t>What starts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05456" y="2468880"/>
            <a:ext cx="1755648" cy="246888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0672" y="2724912"/>
            <a:ext cx="585216" cy="58521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72491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3474720"/>
            <a:ext cx="16093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2E33"/>
                </a:solidFill>
                <a:latin typeface="Cambria"/>
              </a:rPr>
              <a:t>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4069080"/>
            <a:ext cx="15727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6E"/>
                </a:solidFill>
                <a:latin typeface="Calibri"/>
              </a:rPr>
              <a:t>What work is needed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2468880"/>
            <a:ext cx="1755648" cy="246888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56048" y="2724912"/>
            <a:ext cx="585216" cy="58521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272491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3474720"/>
            <a:ext cx="16093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2E33"/>
                </a:solidFill>
                <a:latin typeface="Cambria"/>
              </a:rPr>
              <a:t>Standard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4069080"/>
            <a:ext cx="15727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6E"/>
                </a:solidFill>
                <a:latin typeface="Calibri"/>
              </a:rPr>
              <a:t>What ‘good’ looks like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2468880"/>
            <a:ext cx="1755648" cy="246888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21424" y="2724912"/>
            <a:ext cx="585216" cy="58521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1424" y="272491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474720"/>
            <a:ext cx="16093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2E33"/>
                </a:solidFill>
                <a:latin typeface="Cambria"/>
              </a:rPr>
              <a:t>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069080"/>
            <a:ext cx="15727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6E"/>
                </a:solidFill>
                <a:latin typeface="Calibri"/>
              </a:rPr>
              <a:t>How output is checked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2468880"/>
            <a:ext cx="1755648" cy="246888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86800" y="2724912"/>
            <a:ext cx="585216" cy="58521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272491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3474720"/>
            <a:ext cx="16093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2E33"/>
                </a:solidFill>
                <a:latin typeface="Cambria"/>
              </a:rPr>
              <a:t>Iteration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3" y="4069080"/>
            <a:ext cx="15727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6E"/>
                </a:solidFill>
                <a:latin typeface="Calibri"/>
              </a:rPr>
              <a:t>Fixing what is weak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59" y="2468880"/>
            <a:ext cx="1755648" cy="2468880"/>
          </a:xfrm>
          <a:prstGeom prst="roundRect">
            <a:avLst>
              <a:gd name="adj" fmla="val 8000"/>
            </a:avLst>
          </a:prstGeom>
          <a:solidFill>
            <a:srgbClr val="FCEBEB"/>
          </a:solidFill>
          <a:ln w="1270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52176" y="2724912"/>
            <a:ext cx="585216" cy="585216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52176" y="272491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0111" y="3474720"/>
            <a:ext cx="16093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791F1F"/>
                </a:solidFill>
                <a:latin typeface="Cambria"/>
              </a:rPr>
              <a:t>Human sign-off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399" y="4069080"/>
            <a:ext cx="15727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6E"/>
                </a:solidFill>
                <a:latin typeface="Calibri"/>
              </a:rPr>
              <a:t>Who is accountable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257800"/>
            <a:ext cx="10927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A6B6E"/>
                </a:solidFill>
                <a:latin typeface="Calibri"/>
              </a:rPr>
              <a:t>The verification ⇄ iteration cycle repeats until the output meets the standard — then it goes to a human for sign-off. </a:t>
            </a:r>
            <a:r>
              <a:rPr sz="1500" b="1">
                <a:solidFill>
                  <a:srgbClr val="0B2E33"/>
                </a:solidFill>
                <a:latin typeface="Calibri"/>
              </a:rPr>
              <a:t>Nothing that affects a person is finalised without human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mbria"/>
              </a:rPr>
              <a:t>Stages 1 &amp; 2 — trigger &amp;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28090"/>
                </a:solidFill>
                <a:latin typeface="Cambria"/>
              </a:rPr>
              <a:t>1   Trigger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B2E33"/>
                </a:solidFill>
                <a:latin typeface="Calibri"/>
              </a:rPr>
              <a:t>Rule: start manual. </a:t>
            </a:r>
            <a:r>
              <a:rPr sz="1600" b="0">
                <a:solidFill>
                  <a:srgbClr val="5A6B6E"/>
                </a:solidFill>
                <a:latin typeface="Calibri"/>
              </a:rPr>
              <a:t>Keep the nurse in control. Automated triggers come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48463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28090"/>
                </a:solidFill>
                <a:latin typeface="Calibri"/>
              </a:rPr>
              <a:t>Examples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0B2E33"/>
                </a:solidFill>
                <a:latin typeface="Calibri"/>
              </a:rPr>
              <a:t>•  Pasting meeting notes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0B2E33"/>
                </a:solidFill>
                <a:latin typeface="Calibri"/>
              </a:rPr>
              <a:t>•  Uploading a transcript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0B2E33"/>
                </a:solidFill>
                <a:latin typeface="Calibri"/>
              </a:rPr>
              <a:t>•  A calendar event or monthly metrics drop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28090"/>
                </a:solidFill>
                <a:latin typeface="Cambria"/>
              </a:rPr>
              <a:t>2  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468880"/>
            <a:ext cx="4846320" cy="868680"/>
          </a:xfrm>
          <a:prstGeom prst="roundRect">
            <a:avLst>
              <a:gd name="adj" fmla="val 8000"/>
            </a:avLst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560320"/>
            <a:ext cx="44805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791F1F"/>
                </a:solidFill>
                <a:latin typeface="Calibri"/>
              </a:rPr>
              <a:t>Weak:  </a:t>
            </a:r>
            <a:r>
              <a:rPr sz="1450" b="0">
                <a:solidFill>
                  <a:srgbClr val="791F1F"/>
                </a:solidFill>
                <a:latin typeface="Calibri"/>
              </a:rPr>
              <a:t>“Help with this student.”  (AI fills gaps with assumptions.)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474720"/>
            <a:ext cx="4846320" cy="1234440"/>
          </a:xfrm>
          <a:prstGeom prst="roundRect">
            <a:avLst>
              <a:gd name="adj" fmla="val 8000"/>
            </a:avLst>
          </a:prstGeom>
          <a:solidFill>
            <a:srgbClr val="EA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3584448"/>
            <a:ext cx="44805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7500A"/>
                </a:solidFill>
                <a:latin typeface="Calibri"/>
              </a:rPr>
              <a:t>Strong:  </a:t>
            </a:r>
            <a:r>
              <a:rPr sz="1400" b="0">
                <a:solidFill>
                  <a:srgbClr val="27500A"/>
                </a:solidFill>
                <a:latin typeface="Calibri"/>
              </a:rPr>
              <a:t>“Review placement notes. Draft a SMART action plan separating learning needs from conduct concerns. Do not make employment decisions.”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89204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28090"/>
                </a:solidFill>
                <a:latin typeface="Calibri"/>
              </a:rPr>
              <a:t>Task checklist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0B2E33"/>
                </a:solidFill>
                <a:latin typeface="Calibri"/>
              </a:rPr>
              <a:t>✓ output &amp; audience   ✓ boundaries   ✓ what AI must not decide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mbria"/>
              </a:rPr>
              <a:t>Stages 3 &amp; 4 — the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A6B6E"/>
                </a:solidFill>
                <a:latin typeface="Calibri"/>
              </a:rPr>
              <a:t>Without a standard, AI just agrees with itself. “Sounds professional” is not a standard.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394960" cy="402336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28090"/>
                </a:solidFill>
                <a:latin typeface="Cambria"/>
              </a:rPr>
              <a:t>3   The standard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A6B6E"/>
                </a:solidFill>
                <a:latin typeface="Calibri"/>
              </a:rPr>
              <a:t>Check the output against: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28090"/>
                </a:solidFill>
                <a:latin typeface="Calibri"/>
              </a:rPr>
              <a:t>✓  </a:t>
            </a:r>
            <a:r>
              <a:rPr sz="1450" b="0">
                <a:solidFill>
                  <a:srgbClr val="0B2E33"/>
                </a:solidFill>
                <a:latin typeface="Calibri"/>
              </a:rPr>
              <a:t>NMC Code &amp; Standards of Proficiency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28090"/>
                </a:solidFill>
                <a:latin typeface="Calibri"/>
              </a:rPr>
              <a:t>✓  </a:t>
            </a:r>
            <a:r>
              <a:rPr sz="1450" b="0">
                <a:solidFill>
                  <a:srgbClr val="0B2E33"/>
                </a:solidFill>
                <a:latin typeface="Calibri"/>
              </a:rPr>
              <a:t>Clinical supervision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28090"/>
                </a:solidFill>
                <a:latin typeface="Calibri"/>
              </a:rPr>
              <a:t>✓  </a:t>
            </a:r>
            <a:r>
              <a:rPr sz="1450" b="0">
                <a:solidFill>
                  <a:srgbClr val="0B2E33"/>
                </a:solidFill>
                <a:latin typeface="Calibri"/>
              </a:rPr>
              <a:t>Safeguarding thresholds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28090"/>
                </a:solidFill>
                <a:latin typeface="Calibri"/>
              </a:rPr>
              <a:t>✓  </a:t>
            </a:r>
            <a:r>
              <a:rPr sz="1450" b="0">
                <a:solidFill>
                  <a:srgbClr val="0B2E33"/>
                </a:solidFill>
                <a:latin typeface="Calibri"/>
              </a:rPr>
              <a:t>Equality Act 2010 considerations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834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28090"/>
                </a:solidFill>
                <a:latin typeface="Calibri"/>
              </a:rPr>
              <a:t>✓  </a:t>
            </a:r>
            <a:r>
              <a:rPr sz="1450" b="0">
                <a:solidFill>
                  <a:srgbClr val="0B2E33"/>
                </a:solidFill>
                <a:latin typeface="Calibri"/>
              </a:rPr>
              <a:t>Trauma-informed, non-punitive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406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28090"/>
                </a:solidFill>
                <a:latin typeface="Calibri"/>
              </a:rPr>
              <a:t>✓  </a:t>
            </a:r>
            <a:r>
              <a:rPr sz="1450" b="0">
                <a:solidFill>
                  <a:srgbClr val="0B2E33"/>
                </a:solidFill>
                <a:latin typeface="Calibri"/>
              </a:rPr>
              <a:t>SMART criteria &amp; reasonable adjustments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920240"/>
            <a:ext cx="5394960" cy="402336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03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28090"/>
                </a:solidFill>
                <a:latin typeface="Cambria"/>
              </a:rPr>
              <a:t>4   Verification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2C39A"/>
                </a:solidFill>
                <a:latin typeface="Calibri"/>
              </a:rPr>
              <a:t>→  </a:t>
            </a:r>
            <a:r>
              <a:rPr sz="1350" b="1">
                <a:solidFill>
                  <a:srgbClr val="0B2E33"/>
                </a:solidFill>
                <a:latin typeface="Calibri"/>
              </a:rPr>
              <a:t>Is the concern clearly described?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7296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2C39A"/>
                </a:solidFill>
                <a:latin typeface="Calibri"/>
              </a:rPr>
              <a:t>→  </a:t>
            </a:r>
            <a:r>
              <a:rPr sz="1350" b="1">
                <a:solidFill>
                  <a:srgbClr val="0B2E33"/>
                </a:solidFill>
                <a:latin typeface="Calibri"/>
              </a:rPr>
              <a:t>Is evidence separated from opinion?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64845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2C39A"/>
                </a:solidFill>
                <a:latin typeface="Calibri"/>
              </a:rPr>
              <a:t>→  </a:t>
            </a:r>
            <a:r>
              <a:rPr sz="1350" b="1">
                <a:solidFill>
                  <a:srgbClr val="0B2E33"/>
                </a:solidFill>
                <a:latin typeface="Calibri"/>
              </a:rPr>
              <a:t>Is conduct distinguished from capability?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12394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2C39A"/>
                </a:solidFill>
                <a:latin typeface="Calibri"/>
              </a:rPr>
              <a:t>→  </a:t>
            </a:r>
            <a:r>
              <a:rPr sz="1350" b="1">
                <a:solidFill>
                  <a:srgbClr val="0B2E33"/>
                </a:solidFill>
                <a:latin typeface="Calibri"/>
              </a:rPr>
              <a:t>Are actions SMART, with owners &amp; review dates?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9943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2C39A"/>
                </a:solidFill>
                <a:latin typeface="Calibri"/>
              </a:rPr>
              <a:t>→  </a:t>
            </a:r>
            <a:r>
              <a:rPr sz="1350" b="1">
                <a:solidFill>
                  <a:srgbClr val="0B2E33"/>
                </a:solidFill>
                <a:latin typeface="Calibri"/>
              </a:rPr>
              <a:t>Are reasonable adjustments considered?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0749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2C39A"/>
                </a:solidFill>
                <a:latin typeface="Calibri"/>
              </a:rPr>
              <a:t>→  </a:t>
            </a:r>
            <a:r>
              <a:rPr sz="1350" b="1">
                <a:solidFill>
                  <a:srgbClr val="0B2E33"/>
                </a:solidFill>
                <a:latin typeface="Calibri"/>
              </a:rPr>
              <a:t>Does it avoid decisions it shouldn’t make?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5321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28090"/>
                </a:solidFill>
                <a:latin typeface="Calibri"/>
              </a:rPr>
              <a:t>Scoring rule: </a:t>
            </a:r>
            <a:r>
              <a:rPr sz="1250" b="0">
                <a:solidFill>
                  <a:srgbClr val="5A6B6E"/>
                </a:solidFill>
                <a:latin typeface="Calibri"/>
              </a:rPr>
              <a:t>anything below 8/10 is revised before you see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mbria"/>
              </a:rPr>
              <a:t>Stage 5 — iteration (self-correction)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A6B6E"/>
                </a:solidFill>
                <a:latin typeface="Calibri"/>
              </a:rPr>
              <a:t>Without verification, a loop is just repetition. With verification, a loop becomes improvement.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017520" cy="1463040"/>
          </a:xfrm>
          <a:prstGeom prst="roundRect">
            <a:avLst>
              <a:gd name="adj" fmla="val 8000"/>
            </a:avLst>
          </a:prstGeom>
          <a:solidFill>
            <a:srgbClr val="FA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33806"/>
                </a:solidFill>
                <a:latin typeface="Calibri"/>
              </a:rPr>
              <a:t>Initial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633806"/>
                </a:solidFill>
                <a:latin typeface="Cambria"/>
              </a:rPr>
              <a:t>Score 6/10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94760" y="2606040"/>
            <a:ext cx="914400" cy="256032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0" y="1783080"/>
            <a:ext cx="6492240" cy="1920240"/>
          </a:xfrm>
          <a:prstGeom prst="roundRect">
            <a:avLst>
              <a:gd name="adj" fmla="val 8000"/>
            </a:avLst>
          </a:prstGeom>
          <a:solidFill>
            <a:srgbClr val="07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965960"/>
            <a:ext cx="5943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2C39A"/>
                </a:solidFill>
                <a:latin typeface="Calibri"/>
              </a:rPr>
              <a:t>The loop’s reasoning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Score: </a:t>
            </a:r>
            <a:r>
              <a:rPr sz="1500" b="0">
                <a:solidFill>
                  <a:srgbClr val="CFE7E5"/>
                </a:solidFill>
                <a:latin typeface="Calibri"/>
              </a:rPr>
              <a:t>“The action plan scores 6/10 — two actions are vague.”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Fix: </a:t>
            </a:r>
            <a:r>
              <a:rPr sz="1500" b="0">
                <a:solidFill>
                  <a:srgbClr val="CFE7E5"/>
                </a:solidFill>
                <a:latin typeface="Calibri"/>
              </a:rPr>
              <a:t>“I’ll revise them into SMART actions with named responsibilities and review dates.”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4023360"/>
            <a:ext cx="3017520" cy="1463040"/>
          </a:xfrm>
          <a:prstGeom prst="roundRect">
            <a:avLst>
              <a:gd name="adj" fmla="val 8000"/>
            </a:avLst>
          </a:prstGeom>
          <a:solidFill>
            <a:srgbClr val="EA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420624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7500A"/>
                </a:solidFill>
                <a:latin typeface="Calibri"/>
              </a:rPr>
              <a:t>Revised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470916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27500A"/>
                </a:solidFill>
                <a:latin typeface="Cambria"/>
              </a:rPr>
              <a:t>Score 8/10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715000"/>
            <a:ext cx="10927080" cy="77724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833872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Result: </a:t>
            </a:r>
            <a:r>
              <a:rPr sz="1700" b="0">
                <a:solidFill>
                  <a:srgbClr val="0B2E33"/>
                </a:solidFill>
                <a:latin typeface="Calibri"/>
              </a:rPr>
              <a:t>the loop identifies what is weak and fixes the weakest part </a:t>
            </a:r>
            <a:r>
              <a:rPr sz="1700" b="1">
                <a:solidFill>
                  <a:srgbClr val="0B2E33"/>
                </a:solidFill>
                <a:latin typeface="Calibri"/>
              </a:rPr>
              <a:t>before</a:t>
            </a:r>
            <a:r>
              <a:rPr sz="1700" b="0">
                <a:solidFill>
                  <a:srgbClr val="0B2E33"/>
                </a:solidFill>
                <a:latin typeface="Calibri"/>
              </a:rPr>
              <a:t> presenting it to the human.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mbria"/>
              </a:rPr>
              <a:t>Stage 6 — professional 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A6B6E"/>
                </a:solidFill>
                <a:latin typeface="Calibri"/>
              </a:rPr>
              <a:t>AI can support the workflow. It cannot hold professional accountability.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28090"/>
                </a:solidFill>
                <a:latin typeface="Cambria"/>
              </a:rPr>
              <a:t>What AI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30175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0B2E33"/>
                </a:solidFill>
                <a:latin typeface="Calibri"/>
              </a:rPr>
              <a:t>Draft
Summarise
Check
Flag
Organise
Prepare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FAEEDA"/>
          </a:solidFill>
          <a:ln w="1270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633806"/>
                </a:solidFill>
                <a:latin typeface="Cambria"/>
              </a:rPr>
              <a:t>What humans must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06040"/>
            <a:ext cx="3017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633806"/>
                </a:solidFill>
                <a:latin typeface="Calibri"/>
              </a:rPr>
              <a:t>Review
Sign off
Decide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520440" cy="4023360"/>
          </a:xfrm>
          <a:prstGeom prst="roundRect">
            <a:avLst>
              <a:gd name="adj" fmla="val 8000"/>
            </a:avLst>
          </a:prstGeom>
          <a:solidFill>
            <a:srgbClr val="FCEBEB"/>
          </a:solidFill>
          <a:ln w="12700">
            <a:solidFill>
              <a:srgbClr val="E24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791F1F"/>
                </a:solidFill>
                <a:latin typeface="Cambria"/>
              </a:rPr>
              <a:t>Mandatory human sign-off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060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24B4A"/>
                </a:solidFill>
                <a:latin typeface="Calibri"/>
              </a:rPr>
              <a:t>⚠  </a:t>
            </a:r>
            <a:r>
              <a:rPr sz="1350" b="0">
                <a:solidFill>
                  <a:srgbClr val="791F1F"/>
                </a:solidFill>
                <a:latin typeface="Calibri"/>
              </a:rPr>
              <a:t>Patient care &amp;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11810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24B4A"/>
                </a:solidFill>
                <a:latin typeface="Calibri"/>
              </a:rPr>
              <a:t>⚠  </a:t>
            </a:r>
            <a:r>
              <a:rPr sz="1350" b="0">
                <a:solidFill>
                  <a:srgbClr val="791F1F"/>
                </a:solidFill>
                <a:latin typeface="Calibri"/>
              </a:rPr>
              <a:t>Safeguarding thresholds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63016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24B4A"/>
                </a:solidFill>
                <a:latin typeface="Calibri"/>
              </a:rPr>
              <a:t>⚠  </a:t>
            </a:r>
            <a:r>
              <a:rPr sz="1350" b="0">
                <a:solidFill>
                  <a:srgbClr val="791F1F"/>
                </a:solidFill>
                <a:latin typeface="Calibri"/>
              </a:rPr>
              <a:t>Fitness to practise / progression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4223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24B4A"/>
                </a:solidFill>
                <a:latin typeface="Calibri"/>
              </a:rPr>
              <a:t>⚠  </a:t>
            </a:r>
            <a:r>
              <a:rPr sz="1350" b="0">
                <a:solidFill>
                  <a:srgbClr val="791F1F"/>
                </a:solidFill>
                <a:latin typeface="Calibri"/>
              </a:rPr>
              <a:t>Conduct, capability &amp; 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654296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24B4A"/>
                </a:solidFill>
                <a:latin typeface="Calibri"/>
              </a:rPr>
              <a:t>⚠  </a:t>
            </a:r>
            <a:r>
              <a:rPr sz="1350" b="0">
                <a:solidFill>
                  <a:srgbClr val="791F1F"/>
                </a:solidFill>
                <a:latin typeface="Calibri"/>
              </a:rPr>
              <a:t>Occupational health &amp; adjustments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1663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24B4A"/>
                </a:solidFill>
                <a:latin typeface="Calibri"/>
              </a:rPr>
              <a:t>⚠  </a:t>
            </a:r>
            <a:r>
              <a:rPr sz="1350" b="0">
                <a:solidFill>
                  <a:srgbClr val="791F1F"/>
                </a:solidFill>
                <a:latin typeface="Calibri"/>
              </a:rPr>
              <a:t>Anything affecting a person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mbria"/>
              </a:rPr>
              <a:t>The diagnostic matrix: build vs.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A6B6E"/>
                </a:solidFill>
                <a:latin typeface="Calibri"/>
              </a:rPr>
              <a:t>Not everything needs a loop. Knowing what NOT to automate is professional discipline.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927080" cy="1874519"/>
          </a:xfrm>
          <a:prstGeom prst="roundRect">
            <a:avLst>
              <a:gd name="adj" fmla="val 8000"/>
            </a:avLst>
          </a:prstGeom>
          <a:solidFill>
            <a:srgbClr val="EAF3DE"/>
          </a:solidFill>
          <a:ln w="15875">
            <a:solidFill>
              <a:srgbClr val="63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27500A"/>
                </a:solidFill>
                <a:latin typeface="Cambria"/>
              </a:rPr>
              <a:t>BUILD</a:t>
            </a:r>
            <a:r>
              <a:rPr sz="1500" b="0">
                <a:solidFill>
                  <a:srgbClr val="27500A"/>
                </a:solidFill>
                <a:latin typeface="Calibri"/>
              </a:rPr>
              <a:t>   manageable risk — when all are 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7500A"/>
                </a:solidFill>
                <a:latin typeface="Calibri"/>
              </a:rPr>
              <a:t>✓ Happens repeatedly and follows a recognisable structure      ✓ A clear standard exists and output can be checked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7500A"/>
                </a:solidFill>
                <a:latin typeface="Calibri"/>
              </a:rPr>
              <a:t>✓ Saves time, reduces missed actions, improves auditability       ✓ Does NOT remove necessary human judgement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69080"/>
            <a:ext cx="10927080" cy="1874519"/>
          </a:xfrm>
          <a:prstGeom prst="roundRect">
            <a:avLst>
              <a:gd name="adj" fmla="val 8000"/>
            </a:avLst>
          </a:prstGeom>
          <a:solidFill>
            <a:srgbClr val="FCEBEB"/>
          </a:solidFill>
          <a:ln w="15875">
            <a:solidFill>
              <a:srgbClr val="E24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91F1F"/>
                </a:solidFill>
                <a:latin typeface="Cambria"/>
              </a:rPr>
              <a:t>AVOID</a:t>
            </a:r>
            <a:r>
              <a:rPr sz="1500" b="0">
                <a:solidFill>
                  <a:srgbClr val="791F1F"/>
                </a:solidFill>
                <a:latin typeface="Calibri"/>
              </a:rPr>
              <a:t>   professional red flags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91F1F"/>
                </a:solidFill>
                <a:latin typeface="Calibri"/>
              </a:rPr>
              <a:t>✕ Deciding pass/fail or fitness to practise      ✕ Making safeguarding or clinical treatment decisions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91F1F"/>
                </a:solidFill>
                <a:latin typeface="Calibri"/>
              </a:rPr>
              <a:t>✕ Determining capacity      ✕ Judging misconduct or producing final risk decisions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The clinical red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8B4B4"/>
                </a:solidFill>
                <a:latin typeface="Calibri"/>
              </a:rPr>
              <a:t>This is not anti-AI. It is professional discipline. Quiet failures are more dangerous than obvious 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2194560"/>
            <a:ext cx="9601200" cy="3200400"/>
          </a:xfrm>
          <a:prstGeom prst="roundRect">
            <a:avLst>
              <a:gd name="adj" fmla="val 8000"/>
            </a:avLst>
          </a:prstGeom>
          <a:solidFill>
            <a:srgbClr val="3A1212"/>
          </a:solidFill>
          <a:ln w="19050">
            <a:solidFill>
              <a:srgbClr val="E24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4688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7C1C1"/>
                </a:solidFill>
                <a:latin typeface="Cambria"/>
              </a:rPr>
              <a:t>Do not use loops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3108960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24B4A"/>
                </a:solidFill>
                <a:latin typeface="Calibri"/>
              </a:rPr>
              <a:t>✕   </a:t>
            </a:r>
            <a:r>
              <a:rPr sz="1600" b="0">
                <a:solidFill>
                  <a:srgbClr val="FFFFFF"/>
                </a:solidFill>
                <a:latin typeface="Calibri"/>
              </a:rPr>
              <a:t>Decide whether a student passes or fails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566160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24B4A"/>
                </a:solidFill>
                <a:latin typeface="Calibri"/>
              </a:rPr>
              <a:t>✕   </a:t>
            </a:r>
            <a:r>
              <a:rPr sz="1600" b="0">
                <a:solidFill>
                  <a:srgbClr val="FFFFFF"/>
                </a:solidFill>
                <a:latin typeface="Calibri"/>
              </a:rPr>
              <a:t>Diagnose a patient or decide clinical 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4023360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24B4A"/>
                </a:solidFill>
                <a:latin typeface="Calibri"/>
              </a:rPr>
              <a:t>✕   </a:t>
            </a:r>
            <a:r>
              <a:rPr sz="1600" b="0">
                <a:solidFill>
                  <a:srgbClr val="FFFFFF"/>
                </a:solidFill>
                <a:latin typeface="Calibri"/>
              </a:rPr>
              <a:t>Determine mental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4480560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24B4A"/>
                </a:solidFill>
                <a:latin typeface="Calibri"/>
              </a:rPr>
              <a:t>✕   </a:t>
            </a:r>
            <a:r>
              <a:rPr sz="1600" b="0">
                <a:solidFill>
                  <a:srgbClr val="FFFFFF"/>
                </a:solidFill>
                <a:latin typeface="Calibri"/>
              </a:rPr>
              <a:t>Make final safeguarding or disciplinary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937760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24B4A"/>
                </a:solidFill>
                <a:latin typeface="Calibri"/>
              </a:rPr>
              <a:t>✕   </a:t>
            </a:r>
            <a:r>
              <a:rPr sz="1600" b="0">
                <a:solidFill>
                  <a:srgbClr val="FFFFFF"/>
                </a:solidFill>
                <a:latin typeface="Calibri"/>
              </a:rPr>
              <a:t>Process identifiable patient data without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1">
                <a:solidFill>
                  <a:srgbClr val="F0997B"/>
                </a:solidFill>
                <a:latin typeface="Calibri"/>
              </a:rPr>
              <a:t>The safest developers are the ones who know exactly what should NOT be automated.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mbria"/>
              </a:rPr>
              <a:t>Where practice loops shine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A6B6E"/>
                </a:solidFill>
                <a:latin typeface="Calibri"/>
              </a:rPr>
              <a:t>Useful where work is repeated, structured, and reviewable.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CD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2996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28090"/>
                </a:solidFill>
                <a:latin typeface="Cambria"/>
              </a:rPr>
              <a:t>Placement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42032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0B2E33"/>
                </a:solidFill>
                <a:latin typeface="Calibri"/>
              </a:rPr>
              <a:t>Meeting notes → SMART actions mapped to NMC values → draft action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82880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CD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02996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28090"/>
                </a:solidFill>
                <a:latin typeface="Cambria"/>
              </a:rPr>
              <a:t>Preceptorship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542032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0B2E33"/>
                </a:solidFill>
                <a:latin typeface="Calibri"/>
              </a:rPr>
              <a:t>Progress logs → confidence map &amp; evidence gaps → 3-month review prep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66175" y="182880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CD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207" y="202996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28090"/>
                </a:solidFill>
                <a:latin typeface="Cambria"/>
              </a:rPr>
              <a:t>Clinical supervision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7" y="2542032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0B2E33"/>
                </a:solidFill>
                <a:latin typeface="Calibri"/>
              </a:rPr>
              <a:t>Rough notes → themes &amp; reflective prompts → structured follow-up record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CD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08736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28090"/>
                </a:solidFill>
                <a:latin typeface="Cambria"/>
              </a:rPr>
              <a:t>EDI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599432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0B2E33"/>
                </a:solidFill>
                <a:latin typeface="Calibri"/>
              </a:rPr>
              <a:t>Monthly metrics → representation &amp; progression gaps → equity-focused briefing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53128" y="388620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CD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408736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28090"/>
                </a:solidFill>
                <a:latin typeface="Cambria"/>
              </a:rPr>
              <a:t>Teaching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599432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0B2E33"/>
                </a:solidFill>
                <a:latin typeface="Calibri"/>
              </a:rPr>
              <a:t>Topic → session plan, knowledge checks, inclusive adjustments → educator resource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66175" y="388620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CD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7" y="408736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28090"/>
                </a:solidFill>
                <a:latin typeface="Cambria"/>
              </a:rPr>
              <a:t>Action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7" y="4599432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0B2E33"/>
                </a:solidFill>
                <a:latin typeface="Calibri"/>
              </a:rPr>
              <a:t>Transcript → decisions, owners, deadlines, risks → governance-ready checklist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mbria"/>
              </a:rPr>
              <a:t>Hidden risks &amp; the real metric of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A6B6E"/>
                </a:solidFill>
                <a:latin typeface="Calibri"/>
              </a:rPr>
              <a:t>The goal isn’t AI activity. It’s accountable improvement.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394960" cy="4023360"/>
          </a:xfrm>
          <a:prstGeom prst="roundRect">
            <a:avLst>
              <a:gd name="adj" fmla="val 8000"/>
            </a:avLst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91F1F"/>
                </a:solidFill>
                <a:latin typeface="Cambria"/>
              </a:rPr>
              <a:t>Quiet failures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91F1F"/>
                </a:solidFill>
                <a:latin typeface="Calibri"/>
              </a:rPr>
              <a:t>Look polished but are dangerous: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24B4A"/>
                </a:solidFill>
                <a:latin typeface="Calibri"/>
              </a:rPr>
              <a:t>⚠  </a:t>
            </a:r>
            <a:r>
              <a:rPr sz="1500" b="0">
                <a:solidFill>
                  <a:srgbClr val="0B2E33"/>
                </a:solidFill>
                <a:latin typeface="Calibri"/>
              </a:rPr>
              <a:t>Confident but inaccurate summaries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67328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24B4A"/>
                </a:solidFill>
                <a:latin typeface="Calibri"/>
              </a:rPr>
              <a:t>⚠  </a:t>
            </a:r>
            <a:r>
              <a:rPr sz="1500" b="0">
                <a:solidFill>
                  <a:srgbClr val="0B2E33"/>
                </a:solidFill>
                <a:latin typeface="Calibri"/>
              </a:rPr>
              <a:t>Missing safeguarding cues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34256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24B4A"/>
                </a:solidFill>
                <a:latin typeface="Calibri"/>
              </a:rPr>
              <a:t>⚠  </a:t>
            </a:r>
            <a:r>
              <a:rPr sz="1500" b="0">
                <a:solidFill>
                  <a:srgbClr val="0B2E33"/>
                </a:solidFill>
                <a:latin typeface="Calibri"/>
              </a:rPr>
              <a:t>Vague risk statements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01183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24B4A"/>
                </a:solidFill>
                <a:latin typeface="Calibri"/>
              </a:rPr>
              <a:t>⚠  </a:t>
            </a:r>
            <a:r>
              <a:rPr sz="1500" b="0">
                <a:solidFill>
                  <a:srgbClr val="0B2E33"/>
                </a:solidFill>
                <a:latin typeface="Calibri"/>
              </a:rPr>
              <a:t>Action plans that sound supportive but aren’t measurable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20240"/>
            <a:ext cx="5394960" cy="4023360"/>
          </a:xfrm>
          <a:prstGeom prst="roundRect">
            <a:avLst>
              <a:gd name="adj" fmla="val 8000"/>
            </a:avLst>
          </a:prstGeom>
          <a:solidFill>
            <a:srgbClr val="EA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03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27500A"/>
                </a:solidFill>
                <a:latin typeface="Cambria"/>
              </a:rPr>
              <a:t>Safe value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517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7500A"/>
                </a:solidFill>
                <a:latin typeface="Calibri"/>
              </a:rPr>
              <a:t>Value isn’t outputs generated — it’s: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004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39922"/>
                </a:solidFill>
                <a:latin typeface="Calibri"/>
              </a:rPr>
              <a:t>✓  </a:t>
            </a:r>
            <a:r>
              <a:rPr sz="1500" b="0">
                <a:solidFill>
                  <a:srgbClr val="0B2E33"/>
                </a:solidFill>
                <a:latin typeface="Calibri"/>
              </a:rPr>
              <a:t>Outputs accepted after human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71246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39922"/>
                </a:solidFill>
                <a:latin typeface="Calibri"/>
              </a:rPr>
              <a:t>✓  </a:t>
            </a:r>
            <a:r>
              <a:rPr sz="1500" b="0">
                <a:solidFill>
                  <a:srgbClr val="0B2E33"/>
                </a:solidFill>
                <a:latin typeface="Calibri"/>
              </a:rPr>
              <a:t>Safer handovers &amp; audit readiness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2452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39922"/>
                </a:solidFill>
                <a:latin typeface="Calibri"/>
              </a:rPr>
              <a:t>✓  </a:t>
            </a:r>
            <a:r>
              <a:rPr sz="1500" b="0">
                <a:solidFill>
                  <a:srgbClr val="0B2E33"/>
                </a:solidFill>
                <a:latin typeface="Calibri"/>
              </a:rPr>
              <a:t>Reduction in missed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3659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39922"/>
                </a:solidFill>
                <a:latin typeface="Calibri"/>
              </a:rPr>
              <a:t>✓  </a:t>
            </a:r>
            <a:r>
              <a:rPr sz="1500" b="0">
                <a:solidFill>
                  <a:srgbClr val="0B2E33"/>
                </a:solidFill>
                <a:latin typeface="Calibri"/>
              </a:rPr>
              <a:t>Improved SMART action 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24865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39922"/>
                </a:solidFill>
                <a:latin typeface="Calibri"/>
              </a:rPr>
              <a:t>✓  </a:t>
            </a:r>
            <a:r>
              <a:rPr sz="1500" b="0">
                <a:solidFill>
                  <a:srgbClr val="0B2E33"/>
                </a:solidFill>
                <a:latin typeface="Calibri"/>
              </a:rPr>
              <a:t>Clearer escalation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mbria"/>
              </a:rPr>
              <a:t>The practice loop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A6B6E"/>
                </a:solidFill>
                <a:latin typeface="Calibri"/>
              </a:rPr>
              <a:t>Your blueprint before you build. Build-order rule: always start with one manual example.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2569464" cy="11430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39112"/>
            <a:ext cx="22037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2C39A"/>
                </a:solidFill>
                <a:latin typeface="Cambria"/>
              </a:rPr>
              <a:t>1  </a:t>
            </a:r>
            <a:r>
              <a:rPr sz="1400" b="1">
                <a:solidFill>
                  <a:srgbClr val="028090"/>
                </a:solidFill>
                <a:latin typeface="Cambria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478024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6E"/>
                </a:solidFill>
                <a:latin typeface="Calibri"/>
              </a:rPr>
              <a:t>Repeated friction solved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874519"/>
            <a:ext cx="2569464" cy="11430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2039112"/>
            <a:ext cx="22037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2C39A"/>
                </a:solidFill>
                <a:latin typeface="Cambria"/>
              </a:rPr>
              <a:t>2  </a:t>
            </a:r>
            <a:r>
              <a:rPr sz="1400" b="1">
                <a:solidFill>
                  <a:srgbClr val="028090"/>
                </a:solidFill>
                <a:latin typeface="Cambria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478024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6E"/>
                </a:solidFill>
                <a:latin typeface="Calibri"/>
              </a:rPr>
              <a:t>Roles responsible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874519"/>
            <a:ext cx="2569464" cy="11430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2039112"/>
            <a:ext cx="22037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2C39A"/>
                </a:solidFill>
                <a:latin typeface="Cambria"/>
              </a:rPr>
              <a:t>3  </a:t>
            </a:r>
            <a:r>
              <a:rPr sz="1400" b="1">
                <a:solidFill>
                  <a:srgbClr val="028090"/>
                </a:solidFill>
                <a:latin typeface="Cambria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478024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6E"/>
                </a:solidFill>
                <a:latin typeface="Calibri"/>
              </a:rPr>
              <a:t>Manual or automated start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1874519"/>
            <a:ext cx="2569464" cy="11430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039112"/>
            <a:ext cx="22037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2C39A"/>
                </a:solidFill>
                <a:latin typeface="Cambria"/>
              </a:rPr>
              <a:t>4  </a:t>
            </a:r>
            <a:r>
              <a:rPr sz="1400" b="1">
                <a:solidFill>
                  <a:srgbClr val="028090"/>
                </a:solidFill>
                <a:latin typeface="Cambria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478024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6E"/>
                </a:solidFill>
                <a:latin typeface="Calibri"/>
              </a:rPr>
              <a:t>Data the loop needs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46120"/>
            <a:ext cx="2569464" cy="11430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410712"/>
            <a:ext cx="22037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2C39A"/>
                </a:solidFill>
                <a:latin typeface="Cambria"/>
              </a:rPr>
              <a:t>5  </a:t>
            </a:r>
            <a:r>
              <a:rPr sz="1400" b="1">
                <a:solidFill>
                  <a:srgbClr val="028090"/>
                </a:solidFill>
                <a:latin typeface="Cambria"/>
              </a:rPr>
              <a:t>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849624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6E"/>
                </a:solidFill>
                <a:latin typeface="Calibri"/>
              </a:rPr>
              <a:t>The output to produce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38144" y="3246120"/>
            <a:ext cx="2569464" cy="11430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3410712"/>
            <a:ext cx="22037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2C39A"/>
                </a:solidFill>
                <a:latin typeface="Cambria"/>
              </a:rPr>
              <a:t>6  </a:t>
            </a:r>
            <a:r>
              <a:rPr sz="1400" b="1">
                <a:solidFill>
                  <a:srgbClr val="028090"/>
                </a:solidFill>
                <a:latin typeface="Cambria"/>
              </a:rPr>
              <a:t>Standard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849624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6E"/>
                </a:solidFill>
                <a:latin typeface="Calibri"/>
              </a:rPr>
              <a:t>NMC / Trust benchmark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246120"/>
            <a:ext cx="2569464" cy="11430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410712"/>
            <a:ext cx="22037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2C39A"/>
                </a:solidFill>
                <a:latin typeface="Cambria"/>
              </a:rPr>
              <a:t>7  </a:t>
            </a:r>
            <a:r>
              <a:rPr sz="1400" b="1">
                <a:solidFill>
                  <a:srgbClr val="028090"/>
                </a:solidFill>
                <a:latin typeface="Cambria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3849624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6E"/>
                </a:solidFill>
                <a:latin typeface="Calibri"/>
              </a:rPr>
              <a:t>10-point scoring (≥8/10)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34272" y="3246120"/>
            <a:ext cx="2569464" cy="11430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3410712"/>
            <a:ext cx="22037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2C39A"/>
                </a:solidFill>
                <a:latin typeface="Cambria"/>
              </a:rPr>
              <a:t>8  </a:t>
            </a:r>
            <a:r>
              <a:rPr sz="1400" b="1">
                <a:solidFill>
                  <a:srgbClr val="028090"/>
                </a:solidFill>
                <a:latin typeface="Cambria"/>
              </a:rPr>
              <a:t>Stop condition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849624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6E"/>
                </a:solidFill>
                <a:latin typeface="Calibri"/>
              </a:rPr>
              <a:t>When to escalate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617720"/>
            <a:ext cx="2569464" cy="11430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4782312"/>
            <a:ext cx="22037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2C39A"/>
                </a:solidFill>
                <a:latin typeface="Cambria"/>
              </a:rPr>
              <a:t>9  </a:t>
            </a:r>
            <a:r>
              <a:rPr sz="1400" b="1">
                <a:solidFill>
                  <a:srgbClr val="028090"/>
                </a:solidFill>
                <a:latin typeface="Cambria"/>
              </a:rPr>
              <a:t>Escalation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5221224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6E"/>
                </a:solidFill>
                <a:latin typeface="Calibri"/>
              </a:rPr>
              <a:t>Route for human review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38144" y="4617720"/>
            <a:ext cx="2569464" cy="11430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39312" y="4782312"/>
            <a:ext cx="22037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2C39A"/>
                </a:solidFill>
                <a:latin typeface="Cambria"/>
              </a:rPr>
              <a:t>10  </a:t>
            </a:r>
            <a:r>
              <a:rPr sz="1400" b="1">
                <a:solidFill>
                  <a:srgbClr val="028090"/>
                </a:solidFill>
                <a:latin typeface="Cambria"/>
              </a:rPr>
              <a:t>Human sign-off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9312" y="5221224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6E"/>
                </a:solidFill>
                <a:latin typeface="Calibri"/>
              </a:rPr>
              <a:t>Named accountable role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4617720"/>
            <a:ext cx="2569464" cy="11430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7376" y="4782312"/>
            <a:ext cx="22037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2C39A"/>
                </a:solidFill>
                <a:latin typeface="Cambria"/>
              </a:rPr>
              <a:t>11  </a:t>
            </a:r>
            <a:r>
              <a:rPr sz="1400" b="1">
                <a:solidFill>
                  <a:srgbClr val="028090"/>
                </a:solidFill>
                <a:latin typeface="Cambria"/>
              </a:rPr>
              <a:t>Risk &amp; equity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6" y="5221224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6E"/>
                </a:solidFill>
                <a:latin typeface="Calibri"/>
              </a:rPr>
              <a:t>Bias &amp; data protection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34272" y="4617720"/>
            <a:ext cx="2569464" cy="114300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4782312"/>
            <a:ext cx="220370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2C39A"/>
                </a:solidFill>
                <a:latin typeface="Cambria"/>
              </a:rPr>
              <a:t>12  </a:t>
            </a:r>
            <a:r>
              <a:rPr sz="1400" b="1">
                <a:solidFill>
                  <a:srgbClr val="028090"/>
                </a:solidFill>
                <a:latin typeface="Cambria"/>
              </a:rPr>
              <a:t>Success measure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5221224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B6E"/>
                </a:solidFill>
                <a:latin typeface="Calibri"/>
              </a:rPr>
              <a:t>Metric proving value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0B2E33"/>
                </a:solidFill>
                <a:latin typeface="Cambria"/>
              </a:rPr>
              <a:t>The safe build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A6B6E"/>
                </a:solidFill>
                <a:latin typeface="Calibri"/>
              </a:rPr>
              <a:t>Never jump to automation. A weak manual process becomes a dangerous automated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CD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2075688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756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30552"/>
            <a:ext cx="1600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28090"/>
                </a:solidFill>
                <a:latin typeface="Cambria"/>
              </a:rPr>
              <a:t>Manual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6E"/>
                </a:solidFill>
                <a:latin typeface="Calibri"/>
              </a:rPr>
              <a:t>One real, anonymised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74519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CD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21607" y="2075688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7" y="20756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30552"/>
            <a:ext cx="1600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28090"/>
                </a:solidFill>
                <a:latin typeface="Cambria"/>
              </a:rPr>
              <a:t>Reusable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78892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6E"/>
                </a:solidFill>
                <a:latin typeface="Calibri"/>
              </a:rPr>
              <a:t>Formalise the structure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74519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CD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01968" y="2075688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0756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130552"/>
            <a:ext cx="1600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28090"/>
                </a:solidFill>
                <a:latin typeface="Cambria"/>
              </a:rPr>
              <a:t>Verification checklist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78892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6E"/>
                </a:solidFill>
                <a:latin typeface="Calibri"/>
              </a:rPr>
              <a:t>Bake in NMC / Trust policy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59" y="1874519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CD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82328" y="2075688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82328" y="20756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39" y="2130552"/>
            <a:ext cx="1600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28090"/>
                </a:solidFill>
                <a:latin typeface="Cambria"/>
              </a:rPr>
              <a:t>Define stop conditions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9" y="278892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6E"/>
                </a:solidFill>
                <a:latin typeface="Calibri"/>
              </a:rPr>
              <a:t>When the AI must escalate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12467" y="379476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CD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13635" y="3995928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13635" y="399592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1147" y="4050792"/>
            <a:ext cx="1600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28090"/>
                </a:solidFill>
                <a:latin typeface="Cambria"/>
              </a:rPr>
              <a:t>Stress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1067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6E"/>
                </a:solidFill>
                <a:latin typeface="Calibri"/>
              </a:rPr>
              <a:t>Messy data, conflict, risk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92827" y="379476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F3F8F8"/>
          </a:solidFill>
          <a:ln w="12700">
            <a:solidFill>
              <a:srgbClr val="CD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993995" y="3995928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93995" y="399592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1507" y="4050792"/>
            <a:ext cx="1600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28090"/>
                </a:solidFill>
                <a:latin typeface="Cambria"/>
              </a:rPr>
              <a:t>MDT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1427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6E"/>
                </a:solidFill>
                <a:latin typeface="Calibri"/>
              </a:rPr>
              <a:t>PEFs, EDI &amp; IG colleagues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73187" y="379476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E6F2F2"/>
          </a:solidFill>
          <a:ln w="12700">
            <a:solidFill>
              <a:srgbClr val="CD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874355" y="3995928"/>
            <a:ext cx="548640" cy="548640"/>
          </a:xfrm>
          <a:prstGeom prst="ellipse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4355" y="399592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1867" y="4050792"/>
            <a:ext cx="1600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28090"/>
                </a:solidFill>
                <a:latin typeface="Cambria"/>
              </a:rPr>
              <a:t>Governed automation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1787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6E"/>
                </a:solidFill>
                <a:latin typeface="Calibri"/>
              </a:rPr>
              <a:t>Only once proven safe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760720"/>
            <a:ext cx="10927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28090"/>
                </a:solidFill>
                <a:latin typeface="Calibri"/>
              </a:rPr>
              <a:t>Build-order rule: </a:t>
            </a:r>
            <a:r>
              <a:rPr sz="1500" b="0">
                <a:solidFill>
                  <a:srgbClr val="0B2E33"/>
                </a:solidFill>
                <a:latin typeface="Calibri"/>
              </a:rPr>
              <a:t>automated triggers come last — only after the manual loop is proven safe with real, messy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From prompter to architect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AE6E4"/>
                </a:solidFill>
                <a:latin typeface="Calibri"/>
              </a:rPr>
              <a:t>Nurses don’t need to become software engineers — they become designers of intelligent practice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0E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2C39A"/>
                </a:solidFill>
                <a:latin typeface="Cambria"/>
              </a:rPr>
              <a:t>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FE7E5"/>
                </a:solidFill>
                <a:latin typeface="Calibri"/>
              </a:rPr>
              <a:t>Move from single prompts to repeated, defined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8600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0E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606040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2C39A"/>
                </a:solidFill>
                <a:latin typeface="Cambria"/>
              </a:rPr>
              <a:t>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33756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FE7E5"/>
                </a:solidFill>
                <a:latin typeface="Calibri"/>
              </a:rPr>
              <a:t>Use the NMC Code and local policy as the benchmark.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28600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0E4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606040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2C39A"/>
                </a:solidFill>
                <a:latin typeface="Cambria"/>
              </a:rPr>
              <a:t>Sign-off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33756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FE7E5"/>
                </a:solidFill>
                <a:latin typeface="Calibri"/>
              </a:rPr>
              <a:t>A human professional always holds final accountability.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83480"/>
            <a:ext cx="10927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Technology teams build platforms, but nurses understand practice. </a:t>
            </a:r>
            <a:r>
              <a:rPr sz="1700" b="1">
                <a:solidFill>
                  <a:srgbClr val="02C39A"/>
                </a:solidFill>
                <a:latin typeface="Calibri"/>
              </a:rPr>
              <a:t>Practice loops let nurses translate their expertise into AI-supported workflows — without pretending AI understands healthcare accountability on its 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